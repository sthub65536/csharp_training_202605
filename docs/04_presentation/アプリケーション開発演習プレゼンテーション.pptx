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57" r:id="rId2"/>
    <p:sldId id="258" r:id="rId3"/>
    <p:sldId id="272" r:id="rId4"/>
    <p:sldId id="262" r:id="rId5"/>
    <p:sldId id="263" r:id="rId6"/>
    <p:sldId id="264" r:id="rId7"/>
    <p:sldId id="259" r:id="rId8"/>
    <p:sldId id="260" r:id="rId9"/>
    <p:sldId id="261" r:id="rId10"/>
    <p:sldId id="266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73" r:id="rId21"/>
    <p:sldId id="267" r:id="rId22"/>
    <p:sldId id="274" r:id="rId23"/>
    <p:sldId id="271" r:id="rId24"/>
    <p:sldId id="270" r:id="rId25"/>
    <p:sldId id="27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236" y="5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E8B98A-DD24-4BB3-8776-ADF044EB09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B9CC07-E60D-425F-BAAE-7488558A54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2599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17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925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2092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0162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8917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374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9122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0649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9641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8705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1361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7FCD812-F1D9-4DF1-BC9A-935B74E7E89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0848B4B-8E8E-4818-B594-EDC6DDEF2277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7942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kumimoji="1"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字幕 2">
            <a:extLst>
              <a:ext uri="{FF2B5EF4-FFF2-40B4-BE49-F238E27FC236}">
                <a16:creationId xmlns:a16="http://schemas.microsoft.com/office/drawing/2014/main" id="{387A7D35-1600-56EA-6679-556B42667341}"/>
              </a:ext>
            </a:extLst>
          </p:cNvPr>
          <p:cNvSpPr txBox="1">
            <a:spLocks/>
          </p:cNvSpPr>
          <p:nvPr/>
        </p:nvSpPr>
        <p:spPr>
          <a:xfrm>
            <a:off x="4023235" y="3725991"/>
            <a:ext cx="4145527" cy="1015663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kumimoji="1"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株式会社イシダシステム開発</a:t>
            </a:r>
            <a:endParaRPr lang="en-US" altLang="ja-JP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ja-JP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　　　 　　　清水拓也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3D692C5-C862-EE74-7491-21694FC76E7C}"/>
              </a:ext>
            </a:extLst>
          </p:cNvPr>
          <p:cNvSpPr txBox="1"/>
          <p:nvPr/>
        </p:nvSpPr>
        <p:spPr>
          <a:xfrm>
            <a:off x="5148941" y="4741654"/>
            <a:ext cx="26401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2026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年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5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月</a:t>
            </a:r>
            <a:r>
              <a:rPr kumimoji="1" lang="en-US" altLang="ja-JP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29</a:t>
            </a:r>
            <a:r>
              <a:rPr kumimoji="1" lang="ja-JP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日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A23BE6E-1393-8959-3B16-BF5814F1F66A}"/>
              </a:ext>
            </a:extLst>
          </p:cNvPr>
          <p:cNvSpPr txBox="1"/>
          <p:nvPr/>
        </p:nvSpPr>
        <p:spPr>
          <a:xfrm>
            <a:off x="1864178" y="2116347"/>
            <a:ext cx="84636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6000" dirty="0"/>
              <a:t>アプリケーション開発演習</a:t>
            </a:r>
          </a:p>
        </p:txBody>
      </p:sp>
    </p:spTree>
    <p:extLst>
      <p:ext uri="{BB962C8B-B14F-4D97-AF65-F5344CB8AC3E}">
        <p14:creationId xmlns:p14="http://schemas.microsoft.com/office/powerpoint/2010/main" val="4260853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52659D-94F1-F5B9-539B-F099FAB46C95}"/>
              </a:ext>
            </a:extLst>
          </p:cNvPr>
          <p:cNvSpPr txBox="1">
            <a:spLocks/>
          </p:cNvSpPr>
          <p:nvPr/>
        </p:nvSpPr>
        <p:spPr>
          <a:xfrm>
            <a:off x="1138517" y="630245"/>
            <a:ext cx="1561141" cy="676042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目次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68A7B35-ACAB-3793-C3D8-F35168E04BD8}"/>
              </a:ext>
            </a:extLst>
          </p:cNvPr>
          <p:cNvSpPr txBox="1"/>
          <p:nvPr/>
        </p:nvSpPr>
        <p:spPr>
          <a:xfrm>
            <a:off x="2699658" y="1230088"/>
            <a:ext cx="34725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開発演習の概要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D3F9462-4A98-7ED7-EFCD-FD1AA3E5D565}"/>
              </a:ext>
            </a:extLst>
          </p:cNvPr>
          <p:cNvSpPr txBox="1"/>
          <p:nvPr/>
        </p:nvSpPr>
        <p:spPr>
          <a:xfrm>
            <a:off x="2699658" y="2091541"/>
            <a:ext cx="52795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社員情報管理システムの概要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C9CBD99-9733-1078-DF13-66D84D5874EB}"/>
              </a:ext>
            </a:extLst>
          </p:cNvPr>
          <p:cNvSpPr txBox="1"/>
          <p:nvPr/>
        </p:nvSpPr>
        <p:spPr>
          <a:xfrm>
            <a:off x="2699657" y="2952994"/>
            <a:ext cx="3396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開発スケジュール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7675F4-95C5-ACC5-E43B-CD93731B85C8}"/>
              </a:ext>
            </a:extLst>
          </p:cNvPr>
          <p:cNvSpPr txBox="1"/>
          <p:nvPr/>
        </p:nvSpPr>
        <p:spPr>
          <a:xfrm>
            <a:off x="2699656" y="3814447"/>
            <a:ext cx="5442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システムのデモンストレーション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98A5909-7C10-7AB5-9D2C-8522B669A846}"/>
              </a:ext>
            </a:extLst>
          </p:cNvPr>
          <p:cNvSpPr txBox="1"/>
          <p:nvPr/>
        </p:nvSpPr>
        <p:spPr>
          <a:xfrm>
            <a:off x="2699655" y="4675900"/>
            <a:ext cx="51054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研修で得られた成果について</a:t>
            </a:r>
          </a:p>
        </p:txBody>
      </p:sp>
    </p:spTree>
    <p:extLst>
      <p:ext uri="{BB962C8B-B14F-4D97-AF65-F5344CB8AC3E}">
        <p14:creationId xmlns:p14="http://schemas.microsoft.com/office/powerpoint/2010/main" val="4034575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3BA462-DC0A-E51D-ECD1-BA41C13DCD3C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開発演習の概要</a:t>
            </a: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33169F4D-9D87-443F-1F10-FC3E4229187B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9761B8C-E006-DCA1-0C48-B8FA97056FE5}"/>
              </a:ext>
            </a:extLst>
          </p:cNvPr>
          <p:cNvSpPr txBox="1"/>
          <p:nvPr/>
        </p:nvSpPr>
        <p:spPr>
          <a:xfrm>
            <a:off x="1012374" y="668909"/>
            <a:ext cx="8534397" cy="38496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300000"/>
              </a:lnSpc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社員情報を管理する</a:t>
            </a:r>
            <a:r>
              <a:rPr kumimoji="1" lang="en-US" altLang="ja-JP" sz="2800" dirty="0"/>
              <a:t>Web</a:t>
            </a:r>
            <a:r>
              <a:rPr kumimoji="1" lang="ja-JP" altLang="en-US" sz="2800" dirty="0"/>
              <a:t>アプリケーションの開発</a:t>
            </a:r>
            <a:endParaRPr kumimoji="1" lang="en-US" altLang="ja-JP" sz="2800" dirty="0"/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言語は</a:t>
            </a:r>
            <a:r>
              <a:rPr kumimoji="1" lang="en-US" altLang="ja-JP" sz="2800" dirty="0"/>
              <a:t>C#</a:t>
            </a:r>
            <a:r>
              <a:rPr kumimoji="1" lang="ja-JP" altLang="en-US" sz="2800" dirty="0"/>
              <a:t>、</a:t>
            </a:r>
            <a:r>
              <a:rPr kumimoji="1" lang="en-US" altLang="ja-JP" sz="2800" dirty="0"/>
              <a:t>Web</a:t>
            </a:r>
            <a:r>
              <a:rPr kumimoji="1" lang="ja-JP" altLang="en-US" sz="2800" dirty="0"/>
              <a:t>フレームワークは</a:t>
            </a:r>
            <a:r>
              <a:rPr kumimoji="1" lang="en-US" altLang="ja-JP" sz="2800" dirty="0"/>
              <a:t>ASP.NET Core</a:t>
            </a:r>
            <a:r>
              <a:rPr kumimoji="1" lang="ja-JP" altLang="en-US" sz="2800" dirty="0"/>
              <a:t>を使用</a:t>
            </a:r>
            <a:endParaRPr kumimoji="1" lang="en-US" altLang="ja-JP" sz="2800" dirty="0"/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個人での開発</a:t>
            </a:r>
            <a:endParaRPr kumimoji="1" lang="en-US" altLang="ja-JP" sz="2800" dirty="0"/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n"/>
            </a:pP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862617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93529-6C6C-3B69-DFF3-90DF5464C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6B01E146-C016-E7C1-23AB-A1E22AC87594}"/>
              </a:ext>
            </a:extLst>
          </p:cNvPr>
          <p:cNvCxnSpPr>
            <a:cxnSpLocks/>
          </p:cNvCxnSpPr>
          <p:nvPr/>
        </p:nvCxnSpPr>
        <p:spPr>
          <a:xfrm>
            <a:off x="1398814" y="3526972"/>
            <a:ext cx="9780815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タイトル 1">
            <a:extLst>
              <a:ext uri="{FF2B5EF4-FFF2-40B4-BE49-F238E27FC236}">
                <a16:creationId xmlns:a16="http://schemas.microsoft.com/office/drawing/2014/main" id="{B22D7D85-82A6-B701-0301-2AF9DF5C357B}"/>
              </a:ext>
            </a:extLst>
          </p:cNvPr>
          <p:cNvSpPr txBox="1">
            <a:spLocks/>
          </p:cNvSpPr>
          <p:nvPr/>
        </p:nvSpPr>
        <p:spPr>
          <a:xfrm>
            <a:off x="1398814" y="2731188"/>
            <a:ext cx="10564586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000" dirty="0">
                <a:solidFill>
                  <a:schemeClr val="tx1"/>
                </a:solidFill>
              </a:rPr>
              <a:t>社員情報管理システムの概要</a:t>
            </a:r>
          </a:p>
        </p:txBody>
      </p:sp>
    </p:spTree>
    <p:extLst>
      <p:ext uri="{BB962C8B-B14F-4D97-AF65-F5344CB8AC3E}">
        <p14:creationId xmlns:p14="http://schemas.microsoft.com/office/powerpoint/2010/main" val="4175453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4282E075-EE65-0E43-B9A1-4853A06985D0}"/>
              </a:ext>
            </a:extLst>
          </p:cNvPr>
          <p:cNvSpPr/>
          <p:nvPr/>
        </p:nvSpPr>
        <p:spPr>
          <a:xfrm>
            <a:off x="755199" y="2418394"/>
            <a:ext cx="10163171" cy="3753805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3200" dirty="0">
              <a:solidFill>
                <a:schemeClr val="tx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B599F8F-312E-5DE4-264B-5243A2B0ACF0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システムの概要</a:t>
            </a: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52F954D8-912C-CB68-DCB5-65CE78A3367C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67F3AA-EA82-9C48-CC2A-143E35DB1288}"/>
              </a:ext>
            </a:extLst>
          </p:cNvPr>
          <p:cNvSpPr txBox="1"/>
          <p:nvPr/>
        </p:nvSpPr>
        <p:spPr>
          <a:xfrm>
            <a:off x="1295401" y="1110345"/>
            <a:ext cx="5344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部署と社員についての情報を管理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3F3DB29-C807-709F-786A-C2456C195A9A}"/>
              </a:ext>
            </a:extLst>
          </p:cNvPr>
          <p:cNvSpPr txBox="1"/>
          <p:nvPr/>
        </p:nvSpPr>
        <p:spPr>
          <a:xfrm>
            <a:off x="1246414" y="2875242"/>
            <a:ext cx="5344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部署情報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C0ED95A-93AB-977C-AB6A-9B963ADC1634}"/>
              </a:ext>
            </a:extLst>
          </p:cNvPr>
          <p:cNvSpPr txBox="1"/>
          <p:nvPr/>
        </p:nvSpPr>
        <p:spPr>
          <a:xfrm>
            <a:off x="1575710" y="3310671"/>
            <a:ext cx="40603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部署番号</a:t>
            </a:r>
            <a:endParaRPr kumimoji="1" lang="en-US" altLang="ja-JP" sz="28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部署名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18F2EC8-CFCD-DF49-7B54-2F393EAF3DA1}"/>
              </a:ext>
            </a:extLst>
          </p:cNvPr>
          <p:cNvSpPr txBox="1"/>
          <p:nvPr/>
        </p:nvSpPr>
        <p:spPr>
          <a:xfrm>
            <a:off x="1404261" y="2156785"/>
            <a:ext cx="2416628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管理する情報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5E1566F-98B8-60DD-E855-05F33DB0EBE6}"/>
              </a:ext>
            </a:extLst>
          </p:cNvPr>
          <p:cNvSpPr txBox="1"/>
          <p:nvPr/>
        </p:nvSpPr>
        <p:spPr>
          <a:xfrm>
            <a:off x="5965374" y="2875242"/>
            <a:ext cx="5344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社員情報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60296D4-402E-AD62-B0F2-19D84657B15B}"/>
              </a:ext>
            </a:extLst>
          </p:cNvPr>
          <p:cNvSpPr txBox="1"/>
          <p:nvPr/>
        </p:nvSpPr>
        <p:spPr>
          <a:xfrm>
            <a:off x="6294670" y="3310671"/>
            <a:ext cx="406036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社員番号</a:t>
            </a:r>
            <a:endParaRPr kumimoji="1" lang="en-US" altLang="ja-JP" sz="28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社員名</a:t>
            </a:r>
            <a:endParaRPr kumimoji="1" lang="en-US" altLang="ja-JP" sz="28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生年月日</a:t>
            </a:r>
            <a:endParaRPr kumimoji="1" lang="en-US" altLang="ja-JP" sz="28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メールアドレス</a:t>
            </a:r>
            <a:endParaRPr kumimoji="1" lang="en-US" altLang="ja-JP" sz="28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2800" dirty="0"/>
              <a:t>所属部署</a:t>
            </a:r>
          </a:p>
        </p:txBody>
      </p:sp>
    </p:spTree>
    <p:extLst>
      <p:ext uri="{BB962C8B-B14F-4D97-AF65-F5344CB8AC3E}">
        <p14:creationId xmlns:p14="http://schemas.microsoft.com/office/powerpoint/2010/main" val="42320647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0E742A-29F5-01B8-DC61-81E1BE0B57DB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システムの概要</a:t>
            </a: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66AA649B-5780-E9EE-9D24-09AA8F2CAEE6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1699B425-6BF6-83AF-5F68-0CFB72E469C5}"/>
              </a:ext>
            </a:extLst>
          </p:cNvPr>
          <p:cNvSpPr/>
          <p:nvPr/>
        </p:nvSpPr>
        <p:spPr>
          <a:xfrm>
            <a:off x="1675040" y="1766739"/>
            <a:ext cx="3920218" cy="3107871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kumimoji="1" lang="ja-JP" altLang="en-US" sz="3200" dirty="0">
                <a:solidFill>
                  <a:schemeClr val="tx1"/>
                </a:solidFill>
              </a:rPr>
              <a:t>一覧表示機能</a:t>
            </a:r>
            <a:endParaRPr kumimoji="1" lang="en-US" altLang="ja-JP" sz="3200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kumimoji="1" lang="ja-JP" altLang="en-US" sz="3200" dirty="0">
                <a:solidFill>
                  <a:schemeClr val="tx1"/>
                </a:solidFill>
              </a:rPr>
              <a:t>登録機能</a:t>
            </a:r>
            <a:endParaRPr kumimoji="1" lang="en-US" altLang="ja-JP" sz="3200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kumimoji="1" lang="ja-JP" altLang="en-US" sz="3200" dirty="0">
                <a:solidFill>
                  <a:schemeClr val="tx1"/>
                </a:solidFill>
              </a:rPr>
              <a:t>更新機能</a:t>
            </a:r>
            <a:endParaRPr kumimoji="1" lang="en-US" altLang="ja-JP" sz="3200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kumimoji="1" lang="ja-JP" altLang="en-US" sz="3200" dirty="0">
                <a:solidFill>
                  <a:schemeClr val="tx1"/>
                </a:solidFill>
              </a:rPr>
              <a:t>削除機能</a:t>
            </a:r>
            <a:endParaRPr kumimoji="1" lang="en-US" altLang="ja-JP" sz="3200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3A5F5C8-70DF-52CC-533F-0DA8DBCEDF3B}"/>
              </a:ext>
            </a:extLst>
          </p:cNvPr>
          <p:cNvSpPr txBox="1"/>
          <p:nvPr/>
        </p:nvSpPr>
        <p:spPr>
          <a:xfrm>
            <a:off x="1152525" y="1243519"/>
            <a:ext cx="3461657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機能</a:t>
            </a:r>
            <a:r>
              <a:rPr kumimoji="1" lang="en-US" altLang="ja-JP" sz="2800" dirty="0"/>
              <a:t>(</a:t>
            </a:r>
            <a:r>
              <a:rPr kumimoji="1" lang="ja-JP" altLang="en-US" sz="2800" dirty="0"/>
              <a:t>部署・社員共通</a:t>
            </a:r>
            <a:r>
              <a:rPr kumimoji="1" lang="en-US" altLang="ja-JP" sz="2800" dirty="0"/>
              <a:t>)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590670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C045D512-422F-B7B8-97AE-7353FC4684AD}"/>
              </a:ext>
            </a:extLst>
          </p:cNvPr>
          <p:cNvCxnSpPr>
            <a:cxnSpLocks/>
          </p:cNvCxnSpPr>
          <p:nvPr/>
        </p:nvCxnSpPr>
        <p:spPr>
          <a:xfrm>
            <a:off x="2111829" y="3429000"/>
            <a:ext cx="8142514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タイトル 1">
            <a:extLst>
              <a:ext uri="{FF2B5EF4-FFF2-40B4-BE49-F238E27FC236}">
                <a16:creationId xmlns:a16="http://schemas.microsoft.com/office/drawing/2014/main" id="{0F754365-0DE1-14EA-2492-C6B302AA4190}"/>
              </a:ext>
            </a:extLst>
          </p:cNvPr>
          <p:cNvSpPr txBox="1">
            <a:spLocks/>
          </p:cNvSpPr>
          <p:nvPr/>
        </p:nvSpPr>
        <p:spPr>
          <a:xfrm>
            <a:off x="2472016" y="2676759"/>
            <a:ext cx="7477527" cy="882871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600" dirty="0">
                <a:solidFill>
                  <a:schemeClr val="tx1"/>
                </a:solidFill>
              </a:rPr>
              <a:t>開発</a:t>
            </a:r>
            <a:r>
              <a:rPr lang="ja-JP" altLang="en-US" sz="6000" dirty="0">
                <a:solidFill>
                  <a:schemeClr val="tx1"/>
                </a:solidFill>
              </a:rPr>
              <a:t>スケジュール</a:t>
            </a:r>
          </a:p>
        </p:txBody>
      </p:sp>
    </p:spTree>
    <p:extLst>
      <p:ext uri="{BB962C8B-B14F-4D97-AF65-F5344CB8AC3E}">
        <p14:creationId xmlns:p14="http://schemas.microsoft.com/office/powerpoint/2010/main" val="1282996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E23AFE66-EE3F-FEE5-8B2F-8422446A482A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当初予定していたスケジュール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C0A0B6FE-E9BF-49D4-7E1C-A772551A7189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6D5CE38-80DA-C1AE-B84D-206DE410C681}"/>
              </a:ext>
            </a:extLst>
          </p:cNvPr>
          <p:cNvSpPr txBox="1"/>
          <p:nvPr/>
        </p:nvSpPr>
        <p:spPr>
          <a:xfrm>
            <a:off x="1992086" y="1426030"/>
            <a:ext cx="20682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設計工程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C60FE2B-99CA-9F52-6428-3C2F83FD5249}"/>
              </a:ext>
            </a:extLst>
          </p:cNvPr>
          <p:cNvSpPr txBox="1"/>
          <p:nvPr/>
        </p:nvSpPr>
        <p:spPr>
          <a:xfrm>
            <a:off x="2188029" y="2027133"/>
            <a:ext cx="25935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・テーブル定義書作成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1519FF5-078A-EFA5-BF99-FF3293473902}"/>
              </a:ext>
            </a:extLst>
          </p:cNvPr>
          <p:cNvSpPr txBox="1"/>
          <p:nvPr/>
        </p:nvSpPr>
        <p:spPr>
          <a:xfrm>
            <a:off x="2188029" y="2427243"/>
            <a:ext cx="33038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・クラス図、シーケンス図作成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25BFEB3-83B7-314A-4ACE-674D8EB8574C}"/>
              </a:ext>
            </a:extLst>
          </p:cNvPr>
          <p:cNvSpPr txBox="1"/>
          <p:nvPr/>
        </p:nvSpPr>
        <p:spPr>
          <a:xfrm>
            <a:off x="2188029" y="2824421"/>
            <a:ext cx="28738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・テストケース作成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E2676BA-6E10-72D7-5BA8-1EB402460E9F}"/>
              </a:ext>
            </a:extLst>
          </p:cNvPr>
          <p:cNvSpPr txBox="1"/>
          <p:nvPr/>
        </p:nvSpPr>
        <p:spPr>
          <a:xfrm>
            <a:off x="1992086" y="3243792"/>
            <a:ext cx="20682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実装工程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CAE208D-ECD2-AE32-1E13-0160DB91D27F}"/>
              </a:ext>
            </a:extLst>
          </p:cNvPr>
          <p:cNvSpPr txBox="1"/>
          <p:nvPr/>
        </p:nvSpPr>
        <p:spPr>
          <a:xfrm>
            <a:off x="2201643" y="3797878"/>
            <a:ext cx="2492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・バックエンド実装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93F0E1E-5559-32BD-470C-AB583A718637}"/>
              </a:ext>
            </a:extLst>
          </p:cNvPr>
          <p:cNvSpPr txBox="1"/>
          <p:nvPr/>
        </p:nvSpPr>
        <p:spPr>
          <a:xfrm>
            <a:off x="2190756" y="4197988"/>
            <a:ext cx="28738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・一覧、登録機能実装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994588C-FD35-5D21-312E-0D1935524115}"/>
              </a:ext>
            </a:extLst>
          </p:cNvPr>
          <p:cNvSpPr txBox="1"/>
          <p:nvPr/>
        </p:nvSpPr>
        <p:spPr>
          <a:xfrm>
            <a:off x="2190755" y="4598098"/>
            <a:ext cx="28738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・削除、更新機能実装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FC67681-6CDA-975C-8502-E4CD7C690C3F}"/>
              </a:ext>
            </a:extLst>
          </p:cNvPr>
          <p:cNvSpPr txBox="1"/>
          <p:nvPr/>
        </p:nvSpPr>
        <p:spPr>
          <a:xfrm>
            <a:off x="7998280" y="1426031"/>
            <a:ext cx="19322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発表準備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2E34D513-745D-B4C2-B884-2B5B416086E0}"/>
              </a:ext>
            </a:extLst>
          </p:cNvPr>
          <p:cNvSpPr/>
          <p:nvPr/>
        </p:nvSpPr>
        <p:spPr>
          <a:xfrm>
            <a:off x="843643" y="1426031"/>
            <a:ext cx="1148441" cy="1817762"/>
          </a:xfrm>
          <a:prstGeom prst="roundRect">
            <a:avLst/>
          </a:prstGeom>
        </p:spPr>
        <p:style>
          <a:lnRef idx="2">
            <a:schemeClr val="accent6"/>
          </a:lnRef>
          <a:fillRef idx="1001">
            <a:schemeClr val="lt2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rtlCol="0" anchor="ctr" anchorCtr="1"/>
          <a:lstStyle/>
          <a:p>
            <a:pPr algn="ctr"/>
            <a:r>
              <a:rPr kumimoji="1" lang="en-US" altLang="ja-JP" sz="2400" dirty="0"/>
              <a:t>5/20</a:t>
            </a:r>
          </a:p>
          <a:p>
            <a:pPr algn="ctr"/>
            <a:r>
              <a:rPr kumimoji="1" lang="ja-JP" altLang="en-US" sz="2400" dirty="0"/>
              <a:t>～</a:t>
            </a:r>
            <a:endParaRPr kumimoji="1" lang="en-US" altLang="ja-JP" sz="2400" dirty="0"/>
          </a:p>
          <a:p>
            <a:pPr algn="ctr"/>
            <a:r>
              <a:rPr kumimoji="1" lang="en-US" altLang="ja-JP" sz="2400" dirty="0"/>
              <a:t>5/21</a:t>
            </a:r>
            <a:endParaRPr kumimoji="1" lang="ja-JP" altLang="en-US" sz="2400" dirty="0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285D6D9-64F9-12E9-BE85-19A8DB2D5BCA}"/>
              </a:ext>
            </a:extLst>
          </p:cNvPr>
          <p:cNvSpPr/>
          <p:nvPr/>
        </p:nvSpPr>
        <p:spPr>
          <a:xfrm>
            <a:off x="838201" y="3330875"/>
            <a:ext cx="1148441" cy="2098131"/>
          </a:xfrm>
          <a:prstGeom prst="roundRect">
            <a:avLst/>
          </a:prstGeom>
        </p:spPr>
        <p:style>
          <a:lnRef idx="2">
            <a:schemeClr val="accent6"/>
          </a:lnRef>
          <a:fillRef idx="1001">
            <a:schemeClr val="lt2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rtlCol="0" anchor="ctr" anchorCtr="1"/>
          <a:lstStyle/>
          <a:p>
            <a:pPr algn="ctr"/>
            <a:r>
              <a:rPr kumimoji="1" lang="en-US" altLang="ja-JP" sz="2400" dirty="0"/>
              <a:t>5/22</a:t>
            </a:r>
          </a:p>
          <a:p>
            <a:pPr algn="ctr"/>
            <a:r>
              <a:rPr kumimoji="1" lang="ja-JP" altLang="en-US" sz="2400" dirty="0"/>
              <a:t>～</a:t>
            </a:r>
            <a:endParaRPr kumimoji="1" lang="en-US" altLang="ja-JP" sz="2400" dirty="0"/>
          </a:p>
          <a:p>
            <a:pPr algn="ctr"/>
            <a:r>
              <a:rPr kumimoji="1" lang="en-US" altLang="ja-JP" sz="2400" dirty="0"/>
              <a:t>5/26</a:t>
            </a:r>
            <a:endParaRPr kumimoji="1" lang="ja-JP" altLang="en-US" sz="2400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BD8D0C9-8962-1822-2035-DCB3135527D7}"/>
              </a:ext>
            </a:extLst>
          </p:cNvPr>
          <p:cNvSpPr txBox="1"/>
          <p:nvPr/>
        </p:nvSpPr>
        <p:spPr>
          <a:xfrm>
            <a:off x="8809263" y="2010806"/>
            <a:ext cx="3570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・プレゼンテーション資料作成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88DBD1A-5329-86BF-BDFB-8C74E4E782BD}"/>
              </a:ext>
            </a:extLst>
          </p:cNvPr>
          <p:cNvSpPr txBox="1"/>
          <p:nvPr/>
        </p:nvSpPr>
        <p:spPr>
          <a:xfrm>
            <a:off x="8820151" y="2410916"/>
            <a:ext cx="3570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・発表リハーサル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FE7FF86-62A6-EE55-B049-B5CF7EB05711}"/>
              </a:ext>
            </a:extLst>
          </p:cNvPr>
          <p:cNvSpPr/>
          <p:nvPr/>
        </p:nvSpPr>
        <p:spPr>
          <a:xfrm>
            <a:off x="6849837" y="1426031"/>
            <a:ext cx="1148441" cy="1384995"/>
          </a:xfrm>
          <a:prstGeom prst="roundRect">
            <a:avLst/>
          </a:prstGeom>
        </p:spPr>
        <p:style>
          <a:lnRef idx="2">
            <a:schemeClr val="accent6"/>
          </a:lnRef>
          <a:fillRef idx="1001">
            <a:schemeClr val="lt2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rtlCol="0" anchor="ctr" anchorCtr="1"/>
          <a:lstStyle/>
          <a:p>
            <a:pPr algn="ctr"/>
            <a:r>
              <a:rPr kumimoji="1" lang="en-US" altLang="ja-JP" sz="2400" dirty="0"/>
              <a:t>5/27</a:t>
            </a:r>
          </a:p>
          <a:p>
            <a:pPr algn="ctr"/>
            <a:r>
              <a:rPr kumimoji="1" lang="ja-JP" altLang="en-US" sz="2400" dirty="0"/>
              <a:t>～</a:t>
            </a:r>
            <a:endParaRPr kumimoji="1" lang="en-US" altLang="ja-JP" sz="2400" dirty="0"/>
          </a:p>
          <a:p>
            <a:pPr algn="ctr"/>
            <a:r>
              <a:rPr kumimoji="1" lang="en-US" altLang="ja-JP" sz="2400" dirty="0"/>
              <a:t>5/28</a:t>
            </a:r>
            <a:endParaRPr kumimoji="1" lang="ja-JP" altLang="en-US" sz="2400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D3EF153-CC52-0676-B27D-6A960E9EAA75}"/>
              </a:ext>
            </a:extLst>
          </p:cNvPr>
          <p:cNvSpPr txBox="1"/>
          <p:nvPr/>
        </p:nvSpPr>
        <p:spPr>
          <a:xfrm>
            <a:off x="2201643" y="4998208"/>
            <a:ext cx="28738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・ログイン機能実装</a:t>
            </a: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B07053A7-CF2E-658D-DEA7-D1A3F45409FC}"/>
              </a:ext>
            </a:extLst>
          </p:cNvPr>
          <p:cNvCxnSpPr>
            <a:cxnSpLocks/>
          </p:cNvCxnSpPr>
          <p:nvPr/>
        </p:nvCxnSpPr>
        <p:spPr>
          <a:xfrm>
            <a:off x="508906" y="1426030"/>
            <a:ext cx="0" cy="411479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A6840462-3C1A-5AAD-1258-733E4C8F3584}"/>
              </a:ext>
            </a:extLst>
          </p:cNvPr>
          <p:cNvCxnSpPr>
            <a:cxnSpLocks/>
          </p:cNvCxnSpPr>
          <p:nvPr/>
        </p:nvCxnSpPr>
        <p:spPr>
          <a:xfrm>
            <a:off x="6594023" y="1426031"/>
            <a:ext cx="0" cy="152399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9928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884A9-D9D0-8419-E5A3-922F1F4F9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367EC8C9-371C-98FE-B538-8367626A0D3E}"/>
              </a:ext>
            </a:extLst>
          </p:cNvPr>
          <p:cNvSpPr txBox="1">
            <a:spLocks/>
          </p:cNvSpPr>
          <p:nvPr/>
        </p:nvSpPr>
        <p:spPr>
          <a:xfrm>
            <a:off x="527958" y="181413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実際の進捗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CC7ECCE8-66A9-61A7-1DE3-4182385CCB6C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98C0C81-934C-4C92-75C9-076AB9FE8880}"/>
              </a:ext>
            </a:extLst>
          </p:cNvPr>
          <p:cNvSpPr txBox="1"/>
          <p:nvPr/>
        </p:nvSpPr>
        <p:spPr>
          <a:xfrm>
            <a:off x="1929495" y="1426029"/>
            <a:ext cx="20682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設計工程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A07CA2A-29C8-CEC2-9AB4-3BC51FF5C912}"/>
              </a:ext>
            </a:extLst>
          </p:cNvPr>
          <p:cNvSpPr txBox="1"/>
          <p:nvPr/>
        </p:nvSpPr>
        <p:spPr>
          <a:xfrm>
            <a:off x="2155373" y="2010804"/>
            <a:ext cx="26261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・テーブル定義書作成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5D6093E-9DC4-1792-3FD6-2C214E938D03}"/>
              </a:ext>
            </a:extLst>
          </p:cNvPr>
          <p:cNvSpPr txBox="1"/>
          <p:nvPr/>
        </p:nvSpPr>
        <p:spPr>
          <a:xfrm>
            <a:off x="2155372" y="2410914"/>
            <a:ext cx="33119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・クラス図、シーケンス図作成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4973C7F-2B65-D6E4-9456-47483177D52F}"/>
              </a:ext>
            </a:extLst>
          </p:cNvPr>
          <p:cNvSpPr txBox="1"/>
          <p:nvPr/>
        </p:nvSpPr>
        <p:spPr>
          <a:xfrm>
            <a:off x="1929493" y="3059128"/>
            <a:ext cx="20682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実装工程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324CC80-8404-CB7F-257C-3752119CF440}"/>
              </a:ext>
            </a:extLst>
          </p:cNvPr>
          <p:cNvSpPr txBox="1"/>
          <p:nvPr/>
        </p:nvSpPr>
        <p:spPr>
          <a:xfrm>
            <a:off x="2155372" y="3646863"/>
            <a:ext cx="2492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・バックエンド実装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D6D630-BA9A-68D8-EBC4-269B57F865D2}"/>
              </a:ext>
            </a:extLst>
          </p:cNvPr>
          <p:cNvSpPr txBox="1"/>
          <p:nvPr/>
        </p:nvSpPr>
        <p:spPr>
          <a:xfrm>
            <a:off x="2144485" y="4046973"/>
            <a:ext cx="28738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・一覧、登録機能実装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754BD17-BA70-FFE0-70AA-E8597FEDD8E5}"/>
              </a:ext>
            </a:extLst>
          </p:cNvPr>
          <p:cNvSpPr txBox="1"/>
          <p:nvPr/>
        </p:nvSpPr>
        <p:spPr>
          <a:xfrm>
            <a:off x="2144484" y="4447083"/>
            <a:ext cx="28738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・削除、更新機能実装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540FD42-0DCF-0CE5-7A45-6F1D9406DCF7}"/>
              </a:ext>
            </a:extLst>
          </p:cNvPr>
          <p:cNvSpPr txBox="1"/>
          <p:nvPr/>
        </p:nvSpPr>
        <p:spPr>
          <a:xfrm>
            <a:off x="7799612" y="1464394"/>
            <a:ext cx="19322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発表準備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306579EE-15C8-3925-3DE7-079110B64397}"/>
              </a:ext>
            </a:extLst>
          </p:cNvPr>
          <p:cNvSpPr/>
          <p:nvPr/>
        </p:nvSpPr>
        <p:spPr>
          <a:xfrm>
            <a:off x="781052" y="1426031"/>
            <a:ext cx="1148441" cy="1186538"/>
          </a:xfrm>
          <a:prstGeom prst="roundRect">
            <a:avLst/>
          </a:prstGeom>
        </p:spPr>
        <p:style>
          <a:lnRef idx="2">
            <a:schemeClr val="accent6"/>
          </a:lnRef>
          <a:fillRef idx="1001">
            <a:schemeClr val="lt2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rtlCol="0" anchor="ctr" anchorCtr="1"/>
          <a:lstStyle/>
          <a:p>
            <a:pPr algn="ctr"/>
            <a:r>
              <a:rPr kumimoji="1" lang="en-US" altLang="ja-JP" sz="2400" dirty="0"/>
              <a:t>5/20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B83084B6-9ACE-7B79-A25C-E55960523214}"/>
              </a:ext>
            </a:extLst>
          </p:cNvPr>
          <p:cNvSpPr/>
          <p:nvPr/>
        </p:nvSpPr>
        <p:spPr>
          <a:xfrm>
            <a:off x="764723" y="2645226"/>
            <a:ext cx="1148441" cy="2246420"/>
          </a:xfrm>
          <a:prstGeom prst="roundRect">
            <a:avLst/>
          </a:prstGeom>
        </p:spPr>
        <p:style>
          <a:lnRef idx="2">
            <a:schemeClr val="accent6"/>
          </a:lnRef>
          <a:fillRef idx="1001">
            <a:schemeClr val="lt2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rtlCol="0" anchor="ctr" anchorCtr="1"/>
          <a:lstStyle/>
          <a:p>
            <a:pPr algn="ctr"/>
            <a:r>
              <a:rPr kumimoji="1" lang="en-US" altLang="ja-JP" sz="2400" dirty="0"/>
              <a:t>5/21</a:t>
            </a:r>
          </a:p>
          <a:p>
            <a:pPr algn="ctr"/>
            <a:r>
              <a:rPr kumimoji="1" lang="ja-JP" altLang="en-US" sz="2400" dirty="0"/>
              <a:t>～</a:t>
            </a:r>
            <a:endParaRPr kumimoji="1" lang="en-US" altLang="ja-JP" sz="2400" dirty="0"/>
          </a:p>
          <a:p>
            <a:pPr algn="ctr"/>
            <a:r>
              <a:rPr kumimoji="1" lang="en-US" altLang="ja-JP" sz="2400" dirty="0"/>
              <a:t>5/27</a:t>
            </a:r>
            <a:endParaRPr kumimoji="1" lang="ja-JP" altLang="en-US" sz="2400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DC42519-BC86-07B0-4739-B750ACB1C5F9}"/>
              </a:ext>
            </a:extLst>
          </p:cNvPr>
          <p:cNvSpPr txBox="1"/>
          <p:nvPr/>
        </p:nvSpPr>
        <p:spPr>
          <a:xfrm>
            <a:off x="8610595" y="2049169"/>
            <a:ext cx="3570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・プレゼンテーション資料の作成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574AF56-7894-F5C3-27FC-ADFD6DDA0360}"/>
              </a:ext>
            </a:extLst>
          </p:cNvPr>
          <p:cNvSpPr txBox="1"/>
          <p:nvPr/>
        </p:nvSpPr>
        <p:spPr>
          <a:xfrm>
            <a:off x="8621483" y="2449279"/>
            <a:ext cx="3570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・リハーサル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3337FD33-C689-A82C-51C3-77C3ABAAF282}"/>
              </a:ext>
            </a:extLst>
          </p:cNvPr>
          <p:cNvSpPr/>
          <p:nvPr/>
        </p:nvSpPr>
        <p:spPr>
          <a:xfrm>
            <a:off x="6651169" y="1464394"/>
            <a:ext cx="1148441" cy="1384995"/>
          </a:xfrm>
          <a:prstGeom prst="roundRect">
            <a:avLst/>
          </a:prstGeom>
        </p:spPr>
        <p:style>
          <a:lnRef idx="2">
            <a:schemeClr val="accent6"/>
          </a:lnRef>
          <a:fillRef idx="1001">
            <a:schemeClr val="lt2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rtlCol="0" anchor="ctr" anchorCtr="1"/>
          <a:lstStyle/>
          <a:p>
            <a:pPr algn="ctr"/>
            <a:r>
              <a:rPr kumimoji="1" lang="en-US" altLang="ja-JP" sz="2400" dirty="0"/>
              <a:t>5/28</a:t>
            </a:r>
            <a:endParaRPr kumimoji="1" lang="ja-JP" altLang="en-US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8C902F7-0D40-0EC9-2CD2-683D5CA701C0}"/>
              </a:ext>
            </a:extLst>
          </p:cNvPr>
          <p:cNvSpPr/>
          <p:nvPr/>
        </p:nvSpPr>
        <p:spPr>
          <a:xfrm>
            <a:off x="4648201" y="3646863"/>
            <a:ext cx="1624693" cy="1200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93D671-0059-A03C-4E43-A7351C2AE656}"/>
              </a:ext>
            </a:extLst>
          </p:cNvPr>
          <p:cNvSpPr txBox="1"/>
          <p:nvPr/>
        </p:nvSpPr>
        <p:spPr>
          <a:xfrm>
            <a:off x="4781551" y="4046973"/>
            <a:ext cx="28738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テスト工程</a:t>
            </a:r>
            <a:endParaRPr kumimoji="1" lang="en-US" altLang="ja-JP" sz="20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7FA5E7EF-D6D7-C424-75BE-2087329A206C}"/>
              </a:ext>
            </a:extLst>
          </p:cNvPr>
          <p:cNvCxnSpPr>
            <a:cxnSpLocks/>
          </p:cNvCxnSpPr>
          <p:nvPr/>
        </p:nvCxnSpPr>
        <p:spPr>
          <a:xfrm>
            <a:off x="413657" y="1426029"/>
            <a:ext cx="0" cy="365759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F2C73693-9A6B-A944-9E2A-B4B89A8063F8}"/>
              </a:ext>
            </a:extLst>
          </p:cNvPr>
          <p:cNvCxnSpPr>
            <a:cxnSpLocks/>
          </p:cNvCxnSpPr>
          <p:nvPr/>
        </p:nvCxnSpPr>
        <p:spPr>
          <a:xfrm>
            <a:off x="6520542" y="1464392"/>
            <a:ext cx="0" cy="152399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8340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83ECD010-782A-0B1F-81AF-5A0A057D96C0}"/>
              </a:ext>
            </a:extLst>
          </p:cNvPr>
          <p:cNvCxnSpPr>
            <a:cxnSpLocks/>
          </p:cNvCxnSpPr>
          <p:nvPr/>
        </p:nvCxnSpPr>
        <p:spPr>
          <a:xfrm>
            <a:off x="2144486" y="3243941"/>
            <a:ext cx="907868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0F593CC8-EDFD-AFF2-7EA5-4DEAEC04B98D}"/>
              </a:ext>
            </a:extLst>
          </p:cNvPr>
          <p:cNvSpPr txBox="1">
            <a:spLocks/>
          </p:cNvSpPr>
          <p:nvPr/>
        </p:nvSpPr>
        <p:spPr>
          <a:xfrm>
            <a:off x="2144486" y="2469929"/>
            <a:ext cx="7228114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000" dirty="0">
                <a:solidFill>
                  <a:schemeClr val="tx1"/>
                </a:solidFill>
              </a:rPr>
              <a:t>アプリ画面の紹介</a:t>
            </a:r>
          </a:p>
        </p:txBody>
      </p:sp>
    </p:spTree>
    <p:extLst>
      <p:ext uri="{BB962C8B-B14F-4D97-AF65-F5344CB8AC3E}">
        <p14:creationId xmlns:p14="http://schemas.microsoft.com/office/powerpoint/2010/main" val="10765540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083659A-D544-5E0F-29FC-DA9120BAB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543" y="1531684"/>
            <a:ext cx="9938657" cy="453085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タイトル 1">
            <a:extLst>
              <a:ext uri="{FF2B5EF4-FFF2-40B4-BE49-F238E27FC236}">
                <a16:creationId xmlns:a16="http://schemas.microsoft.com/office/drawing/2014/main" id="{1B55A6BF-5388-5ADB-5C40-9813B8B5A254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メニュー画面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CF7B915A-7D70-8497-6D2C-22475D1B8866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8940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E1CB7-26B5-A68F-DAB3-9AB2EC720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3A307E9E-F79C-7632-DA81-E48F3373FFB8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部署一覧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DFD952D7-C2B3-10F3-F9CA-0AAFDAE56075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" name="図 5">
            <a:extLst>
              <a:ext uri="{FF2B5EF4-FFF2-40B4-BE49-F238E27FC236}">
                <a16:creationId xmlns:a16="http://schemas.microsoft.com/office/drawing/2014/main" id="{5DC37055-24E1-936E-E806-C8C51049D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251" y="2057399"/>
            <a:ext cx="10419497" cy="3074145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31376591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F0EBE-BE4E-01B0-43B0-97EAA1C3B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BDD4781B-C375-39D7-C278-1D01B219E341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部署登録機能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FC097CA1-34FF-63CA-BBC2-63C32C2CD72F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図 2">
            <a:extLst>
              <a:ext uri="{FF2B5EF4-FFF2-40B4-BE49-F238E27FC236}">
                <a16:creationId xmlns:a16="http://schemas.microsoft.com/office/drawing/2014/main" id="{AD7C0F33-5EE0-A917-FBAF-AB4AC859B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86" y="1231189"/>
            <a:ext cx="5050971" cy="2007904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1DFF125-5FE6-BCAD-570B-DF6F1219FC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465" y="1399163"/>
            <a:ext cx="6232020" cy="1839930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B4F5CCA2-CDA6-9F44-34B8-AA2F7D9CFB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885" y="3618908"/>
            <a:ext cx="8273143" cy="2856149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1255278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95DE4-6A76-40D8-C912-5C5AEDEFD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7EE69562-7A82-64F0-6C93-8BB60AC0D4C9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部署更新機能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0AD9C8D-7E12-5AFF-AB0D-F01FD1BA3CAC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図 2">
            <a:extLst>
              <a:ext uri="{FF2B5EF4-FFF2-40B4-BE49-F238E27FC236}">
                <a16:creationId xmlns:a16="http://schemas.microsoft.com/office/drawing/2014/main" id="{34F757D8-B2F4-0C83-AC7C-4F7DA5352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7" y="1110345"/>
            <a:ext cx="5110812" cy="2134300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99E2D6CA-340B-F58F-B5E6-FAC0381C4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141" y="1421718"/>
            <a:ext cx="5340087" cy="1511553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C4060181-2013-7E8E-7295-FE4455EC1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0042" y="3556018"/>
            <a:ext cx="7151915" cy="2364172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37944801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DB79E-F83E-1BD6-C2CC-1C39892C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DCDD5C12-ED5A-7161-9418-ED629F31693B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部署削除機能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94B1E1CE-E1D2-8C20-9051-CA2E61D68ACD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図 2">
            <a:extLst>
              <a:ext uri="{FF2B5EF4-FFF2-40B4-BE49-F238E27FC236}">
                <a16:creationId xmlns:a16="http://schemas.microsoft.com/office/drawing/2014/main" id="{A4BC8BC2-4AAE-B263-0839-E3BD41585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158" y="2139043"/>
            <a:ext cx="4040599" cy="2579913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8EB51DC0-1009-A3F5-AA79-01AA60994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362200"/>
            <a:ext cx="7117242" cy="2133598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3600418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6CA55-E558-A18F-4C41-D6A52884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B74C25AD-BB07-03A5-7454-1725900AE80F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社員一覧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D0C09A31-17D1-849D-ACAF-D083F064389F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図 2">
            <a:extLst>
              <a:ext uri="{FF2B5EF4-FFF2-40B4-BE49-F238E27FC236}">
                <a16:creationId xmlns:a16="http://schemas.microsoft.com/office/drawing/2014/main" id="{4DBABF02-7304-4718-63B6-1E0B1ABD0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591887"/>
            <a:ext cx="11005457" cy="3061161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3022816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9D50-D954-A0B7-7074-1D1F44E13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C03BFF14-6B2F-D30E-76BF-5D516BA13895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社員登録機能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8B6E5363-A0C2-4CE4-79E0-E88495FACD6F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図 2">
            <a:extLst>
              <a:ext uri="{FF2B5EF4-FFF2-40B4-BE49-F238E27FC236}">
                <a16:creationId xmlns:a16="http://schemas.microsoft.com/office/drawing/2014/main" id="{8CD9752F-9C11-B98A-D4A2-940A0361F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16" y="1232442"/>
            <a:ext cx="4103914" cy="2342651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F90716-43D4-691C-572A-954E2DEF5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601" y="1232442"/>
            <a:ext cx="5787771" cy="2351650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E6F4208-0247-E2FA-7AB1-8C57D4FD12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3343" y="3822734"/>
            <a:ext cx="7432953" cy="2643380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37045227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7EDFA-E7F6-8B06-2553-4A6DAC811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0E5CA285-8AD4-71F0-6492-E23CB6851B80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社員更新機能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95C8E23-6235-875A-ABDD-BCCEB241B2A0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図 2">
            <a:extLst>
              <a:ext uri="{FF2B5EF4-FFF2-40B4-BE49-F238E27FC236}">
                <a16:creationId xmlns:a16="http://schemas.microsoft.com/office/drawing/2014/main" id="{5C97A235-642A-A94C-BCED-EA929659B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30" y="1110345"/>
            <a:ext cx="4103914" cy="2597971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46FD7CCD-83E9-C821-1E76-383B83626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636" y="1360910"/>
            <a:ext cx="5193156" cy="2096840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1675B29-DC94-7AFC-9CE9-83D5411753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0800" y="3958881"/>
            <a:ext cx="6662057" cy="2606730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1237206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661C4-63BE-6E87-709A-0BA241EF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B4DEE673-FD18-9E0D-8379-D37CE57705A9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社員削除機能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15B5F3A-2F99-C1D7-D1BB-14283147DBED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図 2">
            <a:extLst>
              <a:ext uri="{FF2B5EF4-FFF2-40B4-BE49-F238E27FC236}">
                <a16:creationId xmlns:a16="http://schemas.microsoft.com/office/drawing/2014/main" id="{BE763C41-7743-3659-A900-A9DFC4A98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" y="2036757"/>
            <a:ext cx="4245429" cy="2635094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8072F4DF-D75F-54D6-CB2B-30E6959F3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1302" y="2152458"/>
            <a:ext cx="7232099" cy="2229898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22708167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45034-BFC8-D803-B43C-90702BE2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FD57E955-94CB-2BC9-357B-8F76C6201DCA}"/>
              </a:ext>
            </a:extLst>
          </p:cNvPr>
          <p:cNvCxnSpPr>
            <a:cxnSpLocks/>
          </p:cNvCxnSpPr>
          <p:nvPr/>
        </p:nvCxnSpPr>
        <p:spPr>
          <a:xfrm>
            <a:off x="1306285" y="3243941"/>
            <a:ext cx="9916887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2045B561-346F-DC51-0503-5945307E6E79}"/>
              </a:ext>
            </a:extLst>
          </p:cNvPr>
          <p:cNvSpPr txBox="1">
            <a:spLocks/>
          </p:cNvSpPr>
          <p:nvPr/>
        </p:nvSpPr>
        <p:spPr>
          <a:xfrm>
            <a:off x="1306285" y="2546129"/>
            <a:ext cx="957943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000" dirty="0">
                <a:solidFill>
                  <a:schemeClr val="tx1"/>
                </a:solidFill>
              </a:rPr>
              <a:t>研修で得られた成果について</a:t>
            </a:r>
          </a:p>
        </p:txBody>
      </p:sp>
    </p:spTree>
    <p:extLst>
      <p:ext uri="{BB962C8B-B14F-4D97-AF65-F5344CB8AC3E}">
        <p14:creationId xmlns:p14="http://schemas.microsoft.com/office/powerpoint/2010/main" val="4727304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853F56-121E-9C93-E5A7-8A7BB3E9FE80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得られた成果</a:t>
            </a: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780DE34-EAF8-46C5-1FC6-2BA0C4638E5C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63794F3-2CE3-CC11-6913-EAC7422FBCAB}"/>
              </a:ext>
            </a:extLst>
          </p:cNvPr>
          <p:cNvSpPr txBox="1"/>
          <p:nvPr/>
        </p:nvSpPr>
        <p:spPr>
          <a:xfrm>
            <a:off x="1205591" y="1963959"/>
            <a:ext cx="3499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困難を感じたこと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4AC31CCC-645D-6764-7115-93EACC5527D9}"/>
              </a:ext>
            </a:extLst>
          </p:cNvPr>
          <p:cNvSpPr/>
          <p:nvPr/>
        </p:nvSpPr>
        <p:spPr>
          <a:xfrm>
            <a:off x="772885" y="2944345"/>
            <a:ext cx="4365171" cy="1540569"/>
          </a:xfrm>
          <a:prstGeom prst="ellipse">
            <a:avLst/>
          </a:prstGeom>
          <a:solidFill>
            <a:schemeClr val="bg2"/>
          </a:solidFill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FAEC85-8CD0-A52F-8263-3C9F8461CE0B}"/>
              </a:ext>
            </a:extLst>
          </p:cNvPr>
          <p:cNvSpPr txBox="1"/>
          <p:nvPr/>
        </p:nvSpPr>
        <p:spPr>
          <a:xfrm>
            <a:off x="887184" y="3453019"/>
            <a:ext cx="41365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タイムスケジュールの管理</a:t>
            </a: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43C54705-3151-C157-8ECA-D9840EBB527D}"/>
              </a:ext>
            </a:extLst>
          </p:cNvPr>
          <p:cNvSpPr/>
          <p:nvPr/>
        </p:nvSpPr>
        <p:spPr>
          <a:xfrm>
            <a:off x="5505450" y="3463905"/>
            <a:ext cx="1181100" cy="501871"/>
          </a:xfrm>
          <a:prstGeom prst="rightArrow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3EE98D50-63BE-1812-604D-0938C3A93C7E}"/>
              </a:ext>
            </a:extLst>
          </p:cNvPr>
          <p:cNvSpPr/>
          <p:nvPr/>
        </p:nvSpPr>
        <p:spPr>
          <a:xfrm>
            <a:off x="7053946" y="2944345"/>
            <a:ext cx="4365171" cy="1540569"/>
          </a:xfrm>
          <a:prstGeom prst="ellipse">
            <a:avLst/>
          </a:prstGeom>
          <a:solidFill>
            <a:schemeClr val="bg2"/>
          </a:solidFill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35C1FF1-BE8D-D44C-D751-11331927538C}"/>
              </a:ext>
            </a:extLst>
          </p:cNvPr>
          <p:cNvSpPr txBox="1"/>
          <p:nvPr/>
        </p:nvSpPr>
        <p:spPr>
          <a:xfrm>
            <a:off x="7546525" y="3463905"/>
            <a:ext cx="33800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進捗を定量的に把握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CD5E82B-BD84-DADF-0860-B655754B2813}"/>
              </a:ext>
            </a:extLst>
          </p:cNvPr>
          <p:cNvSpPr txBox="1"/>
          <p:nvPr/>
        </p:nvSpPr>
        <p:spPr>
          <a:xfrm>
            <a:off x="7820030" y="1963958"/>
            <a:ext cx="2833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克服するには</a:t>
            </a:r>
          </a:p>
        </p:txBody>
      </p:sp>
    </p:spTree>
    <p:extLst>
      <p:ext uri="{BB962C8B-B14F-4D97-AF65-F5344CB8AC3E}">
        <p14:creationId xmlns:p14="http://schemas.microsoft.com/office/powerpoint/2010/main" val="2195166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5493E-DEEE-B64A-F7A5-F277EFBE1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10E4C3-2709-F91C-7CBD-04EFD55ED371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得られた成果</a:t>
            </a: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0B09E098-09E1-48E5-FD97-E1D072A3B1B0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521A193-A543-D6A9-532B-23333B629F57}"/>
              </a:ext>
            </a:extLst>
          </p:cNvPr>
          <p:cNvSpPr txBox="1"/>
          <p:nvPr/>
        </p:nvSpPr>
        <p:spPr>
          <a:xfrm>
            <a:off x="2141083" y="1963959"/>
            <a:ext cx="1628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反省点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EE0CC74-E9EA-E46A-F4D4-D49D9FBA71C7}"/>
              </a:ext>
            </a:extLst>
          </p:cNvPr>
          <p:cNvSpPr/>
          <p:nvPr/>
        </p:nvSpPr>
        <p:spPr>
          <a:xfrm>
            <a:off x="772885" y="2944345"/>
            <a:ext cx="4365171" cy="1540569"/>
          </a:xfrm>
          <a:prstGeom prst="ellipse">
            <a:avLst/>
          </a:prstGeom>
          <a:solidFill>
            <a:schemeClr val="bg2"/>
          </a:solidFill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259209A-1270-025B-C82F-77425EF8E2E0}"/>
              </a:ext>
            </a:extLst>
          </p:cNvPr>
          <p:cNvSpPr txBox="1"/>
          <p:nvPr/>
        </p:nvSpPr>
        <p:spPr>
          <a:xfrm>
            <a:off x="1553932" y="3248461"/>
            <a:ext cx="28030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テストを後回しに</a:t>
            </a:r>
            <a:endParaRPr kumimoji="1" lang="en-US" altLang="ja-JP" sz="2800" dirty="0"/>
          </a:p>
          <a:p>
            <a:r>
              <a:rPr kumimoji="1" lang="ja-JP" altLang="en-US" sz="2800" dirty="0"/>
              <a:t>    してしまった</a:t>
            </a: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86AA86EE-2A03-A5D6-6DCA-A3D248EB220A}"/>
              </a:ext>
            </a:extLst>
          </p:cNvPr>
          <p:cNvSpPr/>
          <p:nvPr/>
        </p:nvSpPr>
        <p:spPr>
          <a:xfrm>
            <a:off x="5505450" y="3463905"/>
            <a:ext cx="1181100" cy="501871"/>
          </a:xfrm>
          <a:prstGeom prst="rightArrow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052240B0-0099-1664-15D6-CB93A4E9C77D}"/>
              </a:ext>
            </a:extLst>
          </p:cNvPr>
          <p:cNvSpPr/>
          <p:nvPr/>
        </p:nvSpPr>
        <p:spPr>
          <a:xfrm>
            <a:off x="7053944" y="2645009"/>
            <a:ext cx="4365171" cy="2231571"/>
          </a:xfrm>
          <a:prstGeom prst="ellipse">
            <a:avLst/>
          </a:prstGeom>
          <a:solidFill>
            <a:schemeClr val="bg2"/>
          </a:solidFill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6DBC163-BACC-7BE6-AB43-4015201ACA29}"/>
              </a:ext>
            </a:extLst>
          </p:cNvPr>
          <p:cNvSpPr txBox="1"/>
          <p:nvPr/>
        </p:nvSpPr>
        <p:spPr>
          <a:xfrm>
            <a:off x="7452633" y="3283740"/>
            <a:ext cx="3726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考慮できるテストケース</a:t>
            </a:r>
            <a:endParaRPr kumimoji="1" lang="en-US" altLang="ja-JP" sz="2800" dirty="0"/>
          </a:p>
          <a:p>
            <a:r>
              <a:rPr kumimoji="1" lang="ja-JP" altLang="en-US" sz="2800" dirty="0"/>
              <a:t>　  は先に考えておく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91F2F92-645C-6014-F8EC-EC4C6BBD430C}"/>
              </a:ext>
            </a:extLst>
          </p:cNvPr>
          <p:cNvSpPr txBox="1"/>
          <p:nvPr/>
        </p:nvSpPr>
        <p:spPr>
          <a:xfrm>
            <a:off x="8422146" y="1968487"/>
            <a:ext cx="1628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改善点</a:t>
            </a:r>
          </a:p>
        </p:txBody>
      </p:sp>
    </p:spTree>
    <p:extLst>
      <p:ext uri="{BB962C8B-B14F-4D97-AF65-F5344CB8AC3E}">
        <p14:creationId xmlns:p14="http://schemas.microsoft.com/office/powerpoint/2010/main" val="28464123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ED8CD-7965-9391-2610-F8DF2AFDD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B2CD65-9084-F03A-433C-7592DD93C1EC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得られた成果</a:t>
            </a: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82638174-BA7C-7AE1-D94C-6C2461D093F4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137553-9A42-C9BB-46E0-00105F41A736}"/>
              </a:ext>
            </a:extLst>
          </p:cNvPr>
          <p:cNvSpPr txBox="1"/>
          <p:nvPr/>
        </p:nvSpPr>
        <p:spPr>
          <a:xfrm>
            <a:off x="522515" y="1110345"/>
            <a:ext cx="5344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研修前と比べ成長した点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4D5EF9E-6156-D3B5-BEE3-A05C3E3B79CB}"/>
              </a:ext>
            </a:extLst>
          </p:cNvPr>
          <p:cNvSpPr txBox="1"/>
          <p:nvPr/>
        </p:nvSpPr>
        <p:spPr>
          <a:xfrm>
            <a:off x="3661682" y="2117935"/>
            <a:ext cx="50319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今回の開発は個人での実施</a:t>
            </a: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03D6DBE8-6FEE-1EE4-035D-0CFB1E08729F}"/>
              </a:ext>
            </a:extLst>
          </p:cNvPr>
          <p:cNvSpPr/>
          <p:nvPr/>
        </p:nvSpPr>
        <p:spPr>
          <a:xfrm>
            <a:off x="5943599" y="2952217"/>
            <a:ext cx="468086" cy="5847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21CE4E0-FB4F-0A74-946D-DF9A476774DE}"/>
              </a:ext>
            </a:extLst>
          </p:cNvPr>
          <p:cNvSpPr txBox="1"/>
          <p:nvPr/>
        </p:nvSpPr>
        <p:spPr>
          <a:xfrm>
            <a:off x="2634343" y="3786500"/>
            <a:ext cx="70865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フロントエンドとバックエンドのつながりに</a:t>
            </a:r>
            <a:endParaRPr kumimoji="1" lang="en-US" altLang="ja-JP" sz="3200" dirty="0"/>
          </a:p>
          <a:p>
            <a:r>
              <a:rPr kumimoji="1" lang="en-US" altLang="ja-JP" sz="3200" dirty="0"/>
              <a:t>    </a:t>
            </a:r>
            <a:r>
              <a:rPr kumimoji="1" lang="ja-JP" altLang="en-US" sz="3200" dirty="0"/>
              <a:t>対する理解を深めることができたこと</a:t>
            </a:r>
          </a:p>
        </p:txBody>
      </p:sp>
    </p:spTree>
    <p:extLst>
      <p:ext uri="{BB962C8B-B14F-4D97-AF65-F5344CB8AC3E}">
        <p14:creationId xmlns:p14="http://schemas.microsoft.com/office/powerpoint/2010/main" val="2553689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D58B-18CC-F305-1094-D6D99934B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4B27C6-3637-C7EF-D84B-DC1C7447E961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得られた成果</a:t>
            </a: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C0900D96-C2CC-7199-10E3-9CA1C4DE657A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B77E7AB-FF54-6A43-60A2-490117E1EBC4}"/>
              </a:ext>
            </a:extLst>
          </p:cNvPr>
          <p:cNvSpPr txBox="1"/>
          <p:nvPr/>
        </p:nvSpPr>
        <p:spPr>
          <a:xfrm>
            <a:off x="522515" y="1186965"/>
            <a:ext cx="40059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研修を通して感じた点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A898D0-8E6F-76CE-9F5F-FE97BDA5F09E}"/>
              </a:ext>
            </a:extLst>
          </p:cNvPr>
          <p:cNvSpPr txBox="1"/>
          <p:nvPr/>
        </p:nvSpPr>
        <p:spPr>
          <a:xfrm>
            <a:off x="2378527" y="2117934"/>
            <a:ext cx="75982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様々なことを意識する必要があり、苦労した</a:t>
            </a:r>
          </a:p>
        </p:txBody>
      </p:sp>
      <p:sp>
        <p:nvSpPr>
          <p:cNvPr id="6" name="矢印: 下 5">
            <a:extLst>
              <a:ext uri="{FF2B5EF4-FFF2-40B4-BE49-F238E27FC236}">
                <a16:creationId xmlns:a16="http://schemas.microsoft.com/office/drawing/2014/main" id="{DC3336A0-4CE0-AD91-B387-9EA702E85980}"/>
              </a:ext>
            </a:extLst>
          </p:cNvPr>
          <p:cNvSpPr/>
          <p:nvPr/>
        </p:nvSpPr>
        <p:spPr>
          <a:xfrm>
            <a:off x="5943599" y="2952217"/>
            <a:ext cx="468086" cy="5847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0682D25-11D6-99EB-A4E2-39E581C26988}"/>
              </a:ext>
            </a:extLst>
          </p:cNvPr>
          <p:cNvSpPr txBox="1"/>
          <p:nvPr/>
        </p:nvSpPr>
        <p:spPr>
          <a:xfrm>
            <a:off x="3026226" y="3786500"/>
            <a:ext cx="63028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機能が追加していき、それが画面に</a:t>
            </a:r>
            <a:endParaRPr kumimoji="1" lang="en-US" altLang="ja-JP" sz="3200" dirty="0"/>
          </a:p>
          <a:p>
            <a:r>
              <a:rPr kumimoji="1" lang="en-US" altLang="ja-JP" sz="3200" dirty="0"/>
              <a:t> </a:t>
            </a:r>
            <a:r>
              <a:rPr kumimoji="1" lang="ja-JP" altLang="en-US" sz="3200" dirty="0"/>
              <a:t>反映されることにやりがいを感じた</a:t>
            </a:r>
          </a:p>
        </p:txBody>
      </p:sp>
    </p:spTree>
    <p:extLst>
      <p:ext uri="{BB962C8B-B14F-4D97-AF65-F5344CB8AC3E}">
        <p14:creationId xmlns:p14="http://schemas.microsoft.com/office/powerpoint/2010/main" val="36891863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B5621-89C4-CCBC-A4BC-FEE38B25B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73EBEC-D63B-D3A1-B635-1353A468F97B}"/>
              </a:ext>
            </a:extLst>
          </p:cNvPr>
          <p:cNvSpPr txBox="1">
            <a:spLocks/>
          </p:cNvSpPr>
          <p:nvPr/>
        </p:nvSpPr>
        <p:spPr>
          <a:xfrm>
            <a:off x="522515" y="227474"/>
            <a:ext cx="11146970" cy="882871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>
                <a:solidFill>
                  <a:schemeClr val="tx1"/>
                </a:solidFill>
              </a:rPr>
              <a:t>得られた成果</a:t>
            </a: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6786B979-5799-216E-DB9D-A025EF96620B}"/>
              </a:ext>
            </a:extLst>
          </p:cNvPr>
          <p:cNvCxnSpPr>
            <a:cxnSpLocks/>
          </p:cNvCxnSpPr>
          <p:nvPr/>
        </p:nvCxnSpPr>
        <p:spPr>
          <a:xfrm>
            <a:off x="522515" y="968829"/>
            <a:ext cx="11310256" cy="0"/>
          </a:xfrm>
          <a:prstGeom prst="line">
            <a:avLst/>
          </a:prstGeom>
          <a:ln>
            <a:solidFill>
              <a:schemeClr val="dk1">
                <a:alpha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A0147AA-269D-0F48-24FE-2D47322EB0EB}"/>
              </a:ext>
            </a:extLst>
          </p:cNvPr>
          <p:cNvSpPr txBox="1"/>
          <p:nvPr/>
        </p:nvSpPr>
        <p:spPr>
          <a:xfrm>
            <a:off x="522515" y="1110345"/>
            <a:ext cx="55734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今後技術者として自分に必要なこと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37C9237-91E5-50B8-660E-D34D152ED06F}"/>
              </a:ext>
            </a:extLst>
          </p:cNvPr>
          <p:cNvSpPr txBox="1"/>
          <p:nvPr/>
        </p:nvSpPr>
        <p:spPr>
          <a:xfrm>
            <a:off x="3629535" y="2161478"/>
            <a:ext cx="5096215" cy="707886"/>
          </a:xfrm>
          <a:prstGeom prst="rect">
            <a:avLst/>
          </a:prstGeom>
          <a:noFill/>
          <a:ln w="38100" cap="flat">
            <a:solidFill>
              <a:schemeClr val="accent1"/>
            </a:solidFill>
            <a:round/>
          </a:ln>
        </p:spPr>
        <p:txBody>
          <a:bodyPr wrap="square" rtlCol="0">
            <a:spAutoFit/>
          </a:bodyPr>
          <a:lstStyle/>
          <a:p>
            <a:r>
              <a:rPr kumimoji="1" lang="ja-JP" altLang="en-US" sz="4000" dirty="0"/>
              <a:t>チームを意識した開発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9D9331-869C-9C9F-0C01-12F4749D1327}"/>
              </a:ext>
            </a:extLst>
          </p:cNvPr>
          <p:cNvSpPr txBox="1"/>
          <p:nvPr/>
        </p:nvSpPr>
        <p:spPr>
          <a:xfrm>
            <a:off x="3989613" y="3458832"/>
            <a:ext cx="48278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</a:t>
            </a:r>
            <a:r>
              <a:rPr kumimoji="1" lang="ja-JP" altLang="en-US" sz="2400" dirty="0"/>
              <a:t>の運用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相手の目線に立った説明、報告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00E174F-1BB5-3C03-B722-3190750AC104}"/>
              </a:ext>
            </a:extLst>
          </p:cNvPr>
          <p:cNvSpPr txBox="1"/>
          <p:nvPr/>
        </p:nvSpPr>
        <p:spPr>
          <a:xfrm>
            <a:off x="3629535" y="3166444"/>
            <a:ext cx="18941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例</a:t>
            </a:r>
          </a:p>
        </p:txBody>
      </p:sp>
    </p:spTree>
    <p:extLst>
      <p:ext uri="{BB962C8B-B14F-4D97-AF65-F5344CB8AC3E}">
        <p14:creationId xmlns:p14="http://schemas.microsoft.com/office/powerpoint/2010/main" val="3913382128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レトロスペクト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499</TotalTime>
  <Words>398</Words>
  <Application>Microsoft Office PowerPoint</Application>
  <PresentationFormat>ワイド画面</PresentationFormat>
  <Paragraphs>112</Paragraphs>
  <Slides>25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25</vt:i4>
      </vt:variant>
    </vt:vector>
  </HeadingPairs>
  <TitlesOfParts>
    <vt:vector size="31" baseType="lpstr">
      <vt:lpstr>游ゴシック</vt:lpstr>
      <vt:lpstr>Arial</vt:lpstr>
      <vt:lpstr>Calibri</vt:lpstr>
      <vt:lpstr>Calibri Light</vt:lpstr>
      <vt:lpstr>Wingdings</vt:lpstr>
      <vt:lpstr>レトロスペクト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opnewemp006</dc:creator>
  <cp:lastModifiedBy>opnewemp006</cp:lastModifiedBy>
  <cp:revision>3</cp:revision>
  <dcterms:created xsi:type="dcterms:W3CDTF">2026-05-27T07:46:29Z</dcterms:created>
  <dcterms:modified xsi:type="dcterms:W3CDTF">2026-05-28T08:04:46Z</dcterms:modified>
</cp:coreProperties>
</file>